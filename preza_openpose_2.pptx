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7548" autoAdjust="0"/>
  </p:normalViewPr>
  <p:slideViewPr>
    <p:cSldViewPr snapToGrid="0">
      <p:cViewPr varScale="1">
        <p:scale>
          <a:sx n="48" d="100"/>
          <a:sy n="48" d="100"/>
        </p:scale>
        <p:origin x="203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DA165-7CB3-424F-93E8-8CAA43FED39E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2B0D8-D451-4A87-A27F-8110A269A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020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task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to make a 2d </a:t>
            </a:r>
            <a:r>
              <a:rPr lang="hr-HR" dirty="0" err="1"/>
              <a:t>virtual</a:t>
            </a:r>
            <a:r>
              <a:rPr lang="hr-HR" dirty="0"/>
              <a:t> </a:t>
            </a:r>
            <a:r>
              <a:rPr lang="hr-HR" dirty="0" err="1"/>
              <a:t>animation</a:t>
            </a:r>
            <a:r>
              <a:rPr lang="hr-HR" dirty="0"/>
              <a:t> </a:t>
            </a:r>
            <a:r>
              <a:rPr lang="hr-HR" dirty="0" err="1"/>
              <a:t>using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openPose</a:t>
            </a:r>
            <a:r>
              <a:rPr lang="hr-HR" dirty="0"/>
              <a:t> </a:t>
            </a:r>
            <a:r>
              <a:rPr lang="hr-HR" dirty="0" err="1"/>
              <a:t>neural</a:t>
            </a:r>
            <a:r>
              <a:rPr lang="hr-HR" dirty="0"/>
              <a:t> network.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made</a:t>
            </a:r>
            <a:r>
              <a:rPr lang="hr-HR" dirty="0"/>
              <a:t> </a:t>
            </a:r>
            <a:r>
              <a:rPr lang="hr-HR" dirty="0" err="1"/>
              <a:t>animation</a:t>
            </a:r>
            <a:r>
              <a:rPr lang="hr-HR" dirty="0"/>
              <a:t> </a:t>
            </a:r>
            <a:r>
              <a:rPr lang="hr-HR" dirty="0" err="1"/>
              <a:t>through</a:t>
            </a:r>
            <a:r>
              <a:rPr lang="hr-HR" dirty="0"/>
              <a:t> </a:t>
            </a:r>
            <a:r>
              <a:rPr lang="hr-HR" dirty="0" err="1"/>
              <a:t>recordings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movementas</a:t>
            </a:r>
            <a:r>
              <a:rPr lang="hr-HR" dirty="0"/>
              <a:t>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will</a:t>
            </a:r>
            <a:r>
              <a:rPr lang="hr-HR" dirty="0"/>
              <a:t> </a:t>
            </a:r>
            <a:r>
              <a:rPr lang="hr-HR" dirty="0" err="1"/>
              <a:t>openpose</a:t>
            </a:r>
            <a:r>
              <a:rPr lang="hr-HR" dirty="0"/>
              <a:t> </a:t>
            </a:r>
            <a:r>
              <a:rPr lang="hr-HR" dirty="0" err="1"/>
              <a:t>process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make </a:t>
            </a:r>
            <a:r>
              <a:rPr lang="hr-HR" dirty="0" err="1"/>
              <a:t>keypoints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will</a:t>
            </a:r>
            <a:r>
              <a:rPr lang="hr-HR" dirty="0"/>
              <a:t> </a:t>
            </a:r>
            <a:r>
              <a:rPr lang="hr-HR" dirty="0" err="1"/>
              <a:t>later</a:t>
            </a:r>
            <a:r>
              <a:rPr lang="hr-HR" dirty="0"/>
              <a:t> use </a:t>
            </a:r>
            <a:r>
              <a:rPr lang="hr-HR" dirty="0" err="1"/>
              <a:t>in</a:t>
            </a:r>
            <a:r>
              <a:rPr lang="hr-HR" dirty="0"/>
              <a:t> blender to make a 2d </a:t>
            </a:r>
            <a:r>
              <a:rPr lang="hr-HR" dirty="0" err="1"/>
              <a:t>charcther</a:t>
            </a:r>
            <a:endParaRPr lang="en-GB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B0D8-D451-4A87-A27F-8110A269ACE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473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OpenPose</a:t>
            </a:r>
            <a:r>
              <a:rPr lang="en-GB" dirty="0"/>
              <a:t> is an open-source computer vision system that uses deep neural networks to detect and track </a:t>
            </a:r>
            <a:r>
              <a:rPr lang="en-GB" b="1" dirty="0"/>
              <a:t>human body poses</a:t>
            </a:r>
            <a:r>
              <a:rPr lang="en-GB" dirty="0"/>
              <a:t> from images or video.</a:t>
            </a:r>
          </a:p>
          <a:p>
            <a:r>
              <a:rPr lang="en-GB" dirty="0"/>
              <a:t>In practical terms, it identifies </a:t>
            </a:r>
            <a:r>
              <a:rPr lang="en-GB" b="1" dirty="0" err="1"/>
              <a:t>keypoints</a:t>
            </a:r>
            <a:r>
              <a:rPr lang="en-GB" dirty="0"/>
              <a:t> on the human body—such as joints, limbs, hands, and facial landmarks—and connects them into a </a:t>
            </a:r>
            <a:r>
              <a:rPr lang="en-GB" b="1" dirty="0"/>
              <a:t>skeletal representation</a:t>
            </a:r>
            <a:r>
              <a:rPr lang="en-GB" dirty="0"/>
              <a:t>. This works in real time and supports </a:t>
            </a:r>
            <a:r>
              <a:rPr lang="en-GB" b="1" dirty="0"/>
              <a:t>multiple people simultaneously</a:t>
            </a:r>
            <a:r>
              <a:rPr lang="en-GB" dirty="0"/>
              <a:t> in a single frame.</a:t>
            </a:r>
            <a:endParaRPr lang="hr-HR" dirty="0"/>
          </a:p>
          <a:p>
            <a:r>
              <a:rPr lang="hr-HR" dirty="0" err="1"/>
              <a:t>Common</a:t>
            </a:r>
            <a:r>
              <a:rPr lang="hr-HR" dirty="0"/>
              <a:t> </a:t>
            </a:r>
            <a:r>
              <a:rPr lang="hr-HR" dirty="0" err="1"/>
              <a:t>uses</a:t>
            </a:r>
            <a:r>
              <a:rPr lang="hr-HR" dirty="0"/>
              <a:t> for </a:t>
            </a:r>
            <a:r>
              <a:rPr lang="hr-HR" dirty="0" err="1"/>
              <a:t>OpenPose</a:t>
            </a:r>
            <a:r>
              <a:rPr lang="hr-HR" dirty="0"/>
              <a:t>: </a:t>
            </a:r>
            <a:r>
              <a:rPr lang="en-GB" dirty="0"/>
              <a:t>Animation of virtual characters</a:t>
            </a:r>
            <a:r>
              <a:rPr lang="hr-HR" dirty="0"/>
              <a:t> </a:t>
            </a:r>
            <a:r>
              <a:rPr lang="en-GB" dirty="0"/>
              <a:t>Motion capture without physical markers</a:t>
            </a:r>
            <a:r>
              <a:rPr lang="hr-HR" dirty="0"/>
              <a:t>, </a:t>
            </a:r>
            <a:r>
              <a:rPr lang="en-GB" dirty="0"/>
              <a:t>Sports and movement analysis</a:t>
            </a:r>
            <a:r>
              <a:rPr lang="hr-HR" dirty="0"/>
              <a:t> ,</a:t>
            </a:r>
            <a:r>
              <a:rPr lang="en-GB" dirty="0"/>
              <a:t>Human–computer interaction</a:t>
            </a:r>
            <a:r>
              <a:rPr lang="hr-HR" dirty="0"/>
              <a:t>, </a:t>
            </a:r>
            <a:r>
              <a:rPr lang="en-GB" dirty="0"/>
              <a:t>Augmented and virtual reality</a:t>
            </a:r>
          </a:p>
          <a:p>
            <a:r>
              <a:rPr lang="en-GB" dirty="0"/>
              <a:t>Research in biomechanics and AI</a:t>
            </a:r>
            <a:endParaRPr lang="hr-HR" dirty="0"/>
          </a:p>
          <a:p>
            <a:r>
              <a:rPr lang="en-GB" dirty="0"/>
              <a:t>We installed Docker and used it to run </a:t>
            </a:r>
            <a:r>
              <a:rPr lang="en-GB" dirty="0" err="1"/>
              <a:t>OpenPose</a:t>
            </a:r>
            <a:r>
              <a:rPr lang="en-GB" dirty="0"/>
              <a:t>, which we pulled from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uoresearch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openpose</a:t>
            </a:r>
            <a:r>
              <a:rPr lang="en-GB" dirty="0"/>
              <a:t> using the command: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pull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uoresearch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openpose-cpu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dirty="0"/>
              <a:t>We used the </a:t>
            </a:r>
            <a:r>
              <a:rPr lang="en-GB" b="1" dirty="0"/>
              <a:t>CPU-only version of </a:t>
            </a:r>
            <a:r>
              <a:rPr lang="en-GB" b="1" dirty="0" err="1"/>
              <a:t>OpenPose</a:t>
            </a:r>
            <a:r>
              <a:rPr lang="en-GB" dirty="0"/>
              <a:t> because the GPU versions are not compatible with the newer drivers. The CPU version is slower, but it was sufficient for our purposes.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B0D8-D451-4A87-A27F-8110A269ACE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493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Blender is </a:t>
            </a:r>
            <a:r>
              <a:rPr lang="en-GB" b="1" dirty="0"/>
              <a:t>free, open-source 3D software</a:t>
            </a:r>
            <a:r>
              <a:rPr lang="en-GB" dirty="0"/>
              <a:t> used to create digital 3D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2D</a:t>
            </a:r>
            <a:r>
              <a:rPr lang="en-GB" dirty="0"/>
              <a:t> content. It allows users to model objects, animate characters, render images and videos, and produce visual effects. It is commonly used in animation, games, films, simulations, and virtual character production.</a:t>
            </a:r>
            <a:endParaRPr lang="hr-HR" dirty="0"/>
          </a:p>
          <a:p>
            <a:r>
              <a:rPr lang="hr-HR" dirty="0" err="1"/>
              <a:t>Its</a:t>
            </a:r>
            <a:r>
              <a:rPr lang="hr-HR" dirty="0"/>
              <a:t> </a:t>
            </a:r>
            <a:r>
              <a:rPr lang="hr-HR" dirty="0" err="1"/>
              <a:t>used</a:t>
            </a:r>
            <a:r>
              <a:rPr lang="hr-HR" dirty="0"/>
              <a:t> for 3D </a:t>
            </a:r>
            <a:r>
              <a:rPr lang="hr-HR" dirty="0" err="1"/>
              <a:t>modelling</a:t>
            </a:r>
            <a:r>
              <a:rPr lang="hr-HR" dirty="0"/>
              <a:t> </a:t>
            </a:r>
            <a:r>
              <a:rPr lang="hr-HR" dirty="0" err="1"/>
              <a:t>animation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rigging</a:t>
            </a:r>
            <a:r>
              <a:rPr lang="hr-HR" dirty="0"/>
              <a:t> </a:t>
            </a:r>
            <a:r>
              <a:rPr lang="hr-HR" dirty="0" err="1"/>
              <a:t>rendering</a:t>
            </a:r>
            <a:r>
              <a:rPr lang="hr-HR" dirty="0"/>
              <a:t> </a:t>
            </a:r>
            <a:r>
              <a:rPr lang="hr-HR" dirty="0" err="1"/>
              <a:t>images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videos</a:t>
            </a:r>
            <a:r>
              <a:rPr lang="hr-HR" dirty="0"/>
              <a:t> </a:t>
            </a:r>
            <a:r>
              <a:rPr lang="hr-HR" dirty="0" err="1"/>
              <a:t>visual</a:t>
            </a:r>
            <a:r>
              <a:rPr lang="hr-HR" dirty="0"/>
              <a:t> </a:t>
            </a:r>
            <a:r>
              <a:rPr lang="hr-HR" dirty="0" err="1"/>
              <a:t>effects</a:t>
            </a:r>
            <a:r>
              <a:rPr lang="hr-HR" dirty="0"/>
              <a:t> ..</a:t>
            </a:r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used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to </a:t>
            </a:r>
            <a:r>
              <a:rPr lang="hr-HR" dirty="0" err="1"/>
              <a:t>animate</a:t>
            </a:r>
            <a:r>
              <a:rPr lang="hr-HR" dirty="0"/>
              <a:t> 2d </a:t>
            </a:r>
            <a:r>
              <a:rPr lang="hr-HR" dirty="0" err="1"/>
              <a:t>characther</a:t>
            </a:r>
            <a:r>
              <a:rPr lang="hr-HR" dirty="0"/>
              <a:t> </a:t>
            </a:r>
            <a:r>
              <a:rPr lang="hr-HR" dirty="0" err="1"/>
              <a:t>through</a:t>
            </a:r>
            <a:r>
              <a:rPr lang="hr-HR" dirty="0"/>
              <a:t> a </a:t>
            </a:r>
            <a:r>
              <a:rPr lang="hr-HR" dirty="0" err="1"/>
              <a:t>json</a:t>
            </a:r>
            <a:r>
              <a:rPr lang="hr-HR" dirty="0"/>
              <a:t> file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got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openpose</a:t>
            </a:r>
            <a:endParaRPr lang="en-GB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B0D8-D451-4A87-A27F-8110A269ACE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140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First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recorded</a:t>
            </a:r>
            <a:r>
              <a:rPr lang="hr-HR" dirty="0"/>
              <a:t> 5 </a:t>
            </a:r>
            <a:r>
              <a:rPr lang="hr-HR" dirty="0" err="1"/>
              <a:t>videos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will</a:t>
            </a:r>
            <a:r>
              <a:rPr lang="hr-HR" dirty="0"/>
              <a:t> use to </a:t>
            </a:r>
            <a:r>
              <a:rPr lang="hr-HR" dirty="0" err="1"/>
              <a:t>extract</a:t>
            </a:r>
            <a:r>
              <a:rPr lang="hr-HR" dirty="0"/>
              <a:t> </a:t>
            </a:r>
            <a:r>
              <a:rPr lang="hr-HR" dirty="0" err="1"/>
              <a:t>keypoints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. </a:t>
            </a:r>
            <a:r>
              <a:rPr lang="hr-HR" dirty="0" err="1"/>
              <a:t>Its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showed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whole</a:t>
            </a:r>
            <a:r>
              <a:rPr lang="hr-HR" dirty="0"/>
              <a:t> </a:t>
            </a:r>
            <a:r>
              <a:rPr lang="hr-HR" dirty="0" err="1"/>
              <a:t>body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video </a:t>
            </a:r>
            <a:r>
              <a:rPr lang="hr-HR" dirty="0" err="1"/>
              <a:t>has</a:t>
            </a:r>
            <a:r>
              <a:rPr lang="hr-HR" dirty="0"/>
              <a:t> </a:t>
            </a:r>
            <a:r>
              <a:rPr lang="hr-HR" dirty="0" err="1"/>
              <a:t>good</a:t>
            </a:r>
            <a:r>
              <a:rPr lang="hr-HR" dirty="0"/>
              <a:t> </a:t>
            </a:r>
            <a:r>
              <a:rPr lang="hr-HR" dirty="0" err="1"/>
              <a:t>lightning</a:t>
            </a:r>
            <a:r>
              <a:rPr lang="hr-HR" dirty="0"/>
              <a:t>. </a:t>
            </a:r>
            <a:r>
              <a:rPr lang="hr-HR" dirty="0" err="1"/>
              <a:t>We</a:t>
            </a:r>
            <a:r>
              <a:rPr lang="hr-HR" dirty="0"/>
              <a:t> ran </a:t>
            </a:r>
            <a:r>
              <a:rPr lang="hr-HR" dirty="0" err="1"/>
              <a:t>open</a:t>
            </a:r>
            <a:r>
              <a:rPr lang="hr-HR" dirty="0"/>
              <a:t> </a:t>
            </a:r>
            <a:r>
              <a:rPr lang="hr-HR" dirty="0" err="1"/>
              <a:t>pose</a:t>
            </a:r>
            <a:r>
              <a:rPr lang="hr-HR" dirty="0"/>
              <a:t> </a:t>
            </a:r>
            <a:r>
              <a:rPr lang="hr-HR" dirty="0" err="1"/>
              <a:t>command</a:t>
            </a:r>
            <a:r>
              <a:rPr lang="hr-HR" dirty="0"/>
              <a:t> to </a:t>
            </a:r>
            <a:r>
              <a:rPr lang="hr-HR" dirty="0" err="1"/>
              <a:t>extract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keypoints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videos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focus</a:t>
            </a:r>
            <a:r>
              <a:rPr lang="hr-HR" dirty="0"/>
              <a:t> on </a:t>
            </a:r>
            <a:r>
              <a:rPr lang="hr-HR" dirty="0" err="1"/>
              <a:t>the</a:t>
            </a:r>
            <a:r>
              <a:rPr lang="hr-HR" dirty="0"/>
              <a:t> face to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many</a:t>
            </a:r>
            <a:r>
              <a:rPr lang="hr-HR" dirty="0"/>
              <a:t> </a:t>
            </a:r>
            <a:r>
              <a:rPr lang="hr-HR" dirty="0" err="1"/>
              <a:t>keypoints</a:t>
            </a:r>
            <a:r>
              <a:rPr lang="hr-HR" dirty="0"/>
              <a:t> on face.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got</a:t>
            </a:r>
            <a:r>
              <a:rPr lang="hr-HR" dirty="0"/>
              <a:t> a </a:t>
            </a:r>
            <a:r>
              <a:rPr lang="hr-HR" dirty="0" err="1"/>
              <a:t>json</a:t>
            </a:r>
            <a:r>
              <a:rPr lang="hr-HR" dirty="0"/>
              <a:t> file for </a:t>
            </a:r>
            <a:r>
              <a:rPr lang="hr-HR" dirty="0" err="1"/>
              <a:t>every</a:t>
            </a:r>
            <a:r>
              <a:rPr lang="hr-HR" dirty="0"/>
              <a:t> </a:t>
            </a:r>
            <a:r>
              <a:rPr lang="hr-HR" dirty="0" err="1"/>
              <a:t>frame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keypoints</a:t>
            </a:r>
            <a:r>
              <a:rPr lang="hr-HR" dirty="0"/>
              <a:t>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later</a:t>
            </a:r>
            <a:r>
              <a:rPr lang="hr-HR" dirty="0"/>
              <a:t> </a:t>
            </a:r>
            <a:r>
              <a:rPr lang="hr-HR" dirty="0" err="1"/>
              <a:t>all</a:t>
            </a:r>
            <a:r>
              <a:rPr lang="hr-HR" dirty="0"/>
              <a:t> </a:t>
            </a:r>
            <a:r>
              <a:rPr lang="hr-HR" dirty="0" err="1"/>
              <a:t>combined</a:t>
            </a:r>
            <a:r>
              <a:rPr lang="hr-HR" dirty="0"/>
              <a:t> to one </a:t>
            </a:r>
            <a:r>
              <a:rPr lang="hr-HR" dirty="0" err="1"/>
              <a:t>json</a:t>
            </a:r>
            <a:r>
              <a:rPr lang="hr-HR" dirty="0"/>
              <a:t> file </a:t>
            </a:r>
            <a:r>
              <a:rPr lang="hr-HR" dirty="0" err="1"/>
              <a:t>so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blender </a:t>
            </a:r>
            <a:r>
              <a:rPr lang="hr-HR" dirty="0" err="1"/>
              <a:t>script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use </a:t>
            </a:r>
            <a:r>
              <a:rPr lang="hr-HR" dirty="0" err="1"/>
              <a:t>it</a:t>
            </a:r>
            <a:r>
              <a:rPr lang="hr-HR" dirty="0"/>
              <a:t>.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combined</a:t>
            </a:r>
            <a:r>
              <a:rPr lang="hr-HR" dirty="0"/>
              <a:t> </a:t>
            </a:r>
            <a:r>
              <a:rPr lang="hr-HR" dirty="0" err="1"/>
              <a:t>json</a:t>
            </a:r>
            <a:r>
              <a:rPr lang="hr-HR" dirty="0"/>
              <a:t> </a:t>
            </a:r>
            <a:r>
              <a:rPr lang="hr-HR" dirty="0" err="1"/>
              <a:t>files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script.py. In blender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all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keypoints</a:t>
            </a:r>
            <a:r>
              <a:rPr lang="hr-HR" dirty="0"/>
              <a:t> </a:t>
            </a:r>
            <a:r>
              <a:rPr lang="hr-HR" dirty="0" err="1"/>
              <a:t>made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animation</a:t>
            </a:r>
            <a:r>
              <a:rPr lang="hr-HR" dirty="0"/>
              <a:t>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will</a:t>
            </a:r>
            <a:r>
              <a:rPr lang="hr-HR" dirty="0"/>
              <a:t> show </a:t>
            </a:r>
            <a:r>
              <a:rPr lang="hr-HR" dirty="0" err="1"/>
              <a:t>later</a:t>
            </a:r>
            <a:endParaRPr lang="en-GB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B0D8-D451-4A87-A27F-8110A269ACE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797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54992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478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aglavlje sekcij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9851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38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33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9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6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203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5824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36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50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827A237-3535-48EC-8182-216DCA787BE1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0CF8F9C-6241-44E9-B778-58F6DCF04F6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540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7A6167-FCC5-49E8-B280-CECAF151E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F84046EA-4273-437E-9DE5-5AEE713C3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603D399-9D11-9EB3-3938-5A7937E40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8522" y="1480930"/>
            <a:ext cx="5301138" cy="3254321"/>
          </a:xfrm>
        </p:spPr>
        <p:txBody>
          <a:bodyPr>
            <a:normAutofit/>
          </a:bodyPr>
          <a:lstStyle/>
          <a:p>
            <a:pPr algn="l"/>
            <a:r>
              <a:rPr lang="en-GB" sz="4600"/>
              <a:t>Animation of virtual characters using the OpenPose neural network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8617011C-B3C2-C22D-2539-D4571C21B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8524" y="4804850"/>
            <a:ext cx="5284876" cy="1086237"/>
          </a:xfrm>
        </p:spPr>
        <p:txBody>
          <a:bodyPr>
            <a:normAutofit/>
          </a:bodyPr>
          <a:lstStyle/>
          <a:p>
            <a:pPr algn="l"/>
            <a:endParaRPr lang="en-GB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5" name="Picture 4" descr="Human brain nerve cells">
            <a:extLst>
              <a:ext uri="{FF2B5EF4-FFF2-40B4-BE49-F238E27FC236}">
                <a16:creationId xmlns:a16="http://schemas.microsoft.com/office/drawing/2014/main" id="{5114A26D-9BCD-C007-8981-055E91295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62" r="33827"/>
          <a:stretch>
            <a:fillRect/>
          </a:stretch>
        </p:blipFill>
        <p:spPr>
          <a:xfrm>
            <a:off x="7225748" y="10"/>
            <a:ext cx="49662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64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61B6BF2-BFD4-EA51-802C-59CC982A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>
            <a:normAutofit/>
          </a:bodyPr>
          <a:lstStyle/>
          <a:p>
            <a:r>
              <a:rPr lang="hr-HR" sz="4100"/>
              <a:t>INTRODUCTION</a:t>
            </a:r>
            <a:endParaRPr lang="en-GB" sz="41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78DD9A4E-9BD3-03E8-9ED7-AE5FB131D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61" y="1379031"/>
            <a:ext cx="6517065" cy="3779896"/>
          </a:xfrm>
          <a:prstGeom prst="rect">
            <a:avLst/>
          </a:prstGeom>
        </p:spPr>
      </p:pic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4D7F8F1-28F8-F53E-4996-5143872B6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67" y="2286000"/>
            <a:ext cx="3656419" cy="3581400"/>
          </a:xfrm>
        </p:spPr>
        <p:txBody>
          <a:bodyPr>
            <a:normAutofit/>
          </a:bodyPr>
          <a:lstStyle/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task</a:t>
            </a:r>
            <a:r>
              <a:rPr lang="hr-HR" dirty="0"/>
              <a:t>?</a:t>
            </a:r>
          </a:p>
          <a:p>
            <a:r>
              <a:rPr lang="hr-HR" dirty="0" err="1"/>
              <a:t>OpenPose,Blender</a:t>
            </a:r>
            <a:endParaRPr lang="hr-HR" dirty="0"/>
          </a:p>
          <a:p>
            <a:r>
              <a:rPr lang="hr-HR" dirty="0"/>
              <a:t>2D </a:t>
            </a:r>
            <a:r>
              <a:rPr lang="hr-HR" dirty="0" err="1"/>
              <a:t>Virtual</a:t>
            </a:r>
            <a:r>
              <a:rPr lang="hr-HR" dirty="0"/>
              <a:t> </a:t>
            </a:r>
            <a:r>
              <a:rPr lang="hr-HR" dirty="0" err="1"/>
              <a:t>animation</a:t>
            </a:r>
            <a:endParaRPr lang="hr-HR" dirty="0"/>
          </a:p>
          <a:p>
            <a:endParaRPr lang="hr-H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4754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559A602-8281-920E-A7CA-8726F659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>
            <a:normAutofit/>
          </a:bodyPr>
          <a:lstStyle/>
          <a:p>
            <a:r>
              <a:rPr lang="hr-HR" dirty="0" err="1"/>
              <a:t>OpenPose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BE7562A7-05BF-56BC-64CF-CDF075629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61" y="1004299"/>
            <a:ext cx="6517065" cy="4529360"/>
          </a:xfrm>
          <a:prstGeom prst="rect">
            <a:avLst/>
          </a:prstGeom>
        </p:spPr>
      </p:pic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F803F6D-7B0B-8A50-7EDD-B97BB7786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67" y="2286000"/>
            <a:ext cx="3656419" cy="3581400"/>
          </a:xfrm>
        </p:spPr>
        <p:txBody>
          <a:bodyPr>
            <a:normAutofit/>
          </a:bodyPr>
          <a:lstStyle/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OpenPose</a:t>
            </a:r>
            <a:endParaRPr lang="hr-HR" dirty="0"/>
          </a:p>
          <a:p>
            <a:r>
              <a:rPr lang="hr-HR" dirty="0" err="1"/>
              <a:t>Common</a:t>
            </a:r>
            <a:r>
              <a:rPr lang="hr-HR" dirty="0"/>
              <a:t> </a:t>
            </a:r>
            <a:r>
              <a:rPr lang="hr-HR" dirty="0" err="1"/>
              <a:t>uses</a:t>
            </a:r>
            <a:endParaRPr lang="hr-HR" dirty="0"/>
          </a:p>
          <a:p>
            <a:r>
              <a:rPr lang="hr-HR" dirty="0"/>
              <a:t>How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used</a:t>
            </a:r>
            <a:r>
              <a:rPr lang="hr-HR" dirty="0"/>
              <a:t> </a:t>
            </a:r>
            <a:r>
              <a:rPr lang="hr-HR" dirty="0" err="1"/>
              <a:t>OpenPose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4679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37">
            <a:extLst>
              <a:ext uri="{FF2B5EF4-FFF2-40B4-BE49-F238E27FC236}">
                <a16:creationId xmlns:a16="http://schemas.microsoft.com/office/drawing/2014/main" id="{1D868099-6145-4BC0-A5EA-74BEF177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C5D9342-BC4F-B367-A947-39AB1848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424" y="1110882"/>
            <a:ext cx="3053039" cy="1060817"/>
          </a:xfrm>
        </p:spPr>
        <p:txBody>
          <a:bodyPr anchor="b">
            <a:normAutofit/>
          </a:bodyPr>
          <a:lstStyle/>
          <a:p>
            <a:r>
              <a:rPr lang="hr-HR" sz="2800"/>
              <a:t>Blender</a:t>
            </a:r>
            <a:endParaRPr lang="en-GB" sz="2800"/>
          </a:p>
        </p:txBody>
      </p:sp>
      <p:pic>
        <p:nvPicPr>
          <p:cNvPr id="1026" name="Picture 2" descr="Blender Portable | PortableApps.com">
            <a:extLst>
              <a:ext uri="{FF2B5EF4-FFF2-40B4-BE49-F238E27FC236}">
                <a16:creationId xmlns:a16="http://schemas.microsoft.com/office/drawing/2014/main" id="{61889294-2A76-E36D-CFEE-6AF15AE64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275" y="841357"/>
            <a:ext cx="6900380" cy="517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F9320DD-2776-2FFC-D2F2-DF51C56BC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1423" y="2286000"/>
            <a:ext cx="3053039" cy="3931920"/>
          </a:xfrm>
        </p:spPr>
        <p:txBody>
          <a:bodyPr>
            <a:normAutofit/>
          </a:bodyPr>
          <a:lstStyle/>
          <a:p>
            <a:r>
              <a:rPr lang="en-GB" sz="1600" noProof="0" dirty="0"/>
              <a:t>What is blender</a:t>
            </a:r>
          </a:p>
          <a:p>
            <a:r>
              <a:rPr lang="en-GB" sz="1600" noProof="0" dirty="0"/>
              <a:t>Common uses</a:t>
            </a:r>
          </a:p>
          <a:p>
            <a:r>
              <a:rPr lang="en-GB" sz="1600" noProof="0" dirty="0"/>
              <a:t>How we used it</a:t>
            </a:r>
          </a:p>
        </p:txBody>
      </p:sp>
      <p:sp>
        <p:nvSpPr>
          <p:cNvPr id="1040" name="Freeform 6">
            <a:extLst>
              <a:ext uri="{FF2B5EF4-FFF2-40B4-BE49-F238E27FC236}">
                <a16:creationId xmlns:a16="http://schemas.microsoft.com/office/drawing/2014/main" id="{CC1026F7-DECB-49B4-A565-518BBA44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213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D868099-6145-4BC0-A5EA-74BEF177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03000F-BB4A-6A46-9BFD-3EAB735A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424" y="1110882"/>
            <a:ext cx="3053039" cy="1060817"/>
          </a:xfrm>
        </p:spPr>
        <p:txBody>
          <a:bodyPr anchor="b">
            <a:normAutofit/>
          </a:bodyPr>
          <a:lstStyle/>
          <a:p>
            <a:r>
              <a:rPr lang="hr-HR" sz="2800"/>
              <a:t>What we did</a:t>
            </a:r>
            <a:endParaRPr lang="en-GB" sz="2800"/>
          </a:p>
        </p:txBody>
      </p:sp>
      <p:pic>
        <p:nvPicPr>
          <p:cNvPr id="5" name="Slika 4" descr="Slika na kojoj se prikazuje obuća, osoba, odijevanje, zid&#10;&#10;Sadržaj generiran uz AI možda nije točan.">
            <a:extLst>
              <a:ext uri="{FF2B5EF4-FFF2-40B4-BE49-F238E27FC236}">
                <a16:creationId xmlns:a16="http://schemas.microsoft.com/office/drawing/2014/main" id="{394F933B-FBAF-41B4-E101-210D8C33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163" y="640080"/>
            <a:ext cx="4378604" cy="5577840"/>
          </a:xfrm>
          <a:prstGeom prst="rect">
            <a:avLst/>
          </a:prstGeom>
        </p:spPr>
      </p:pic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EA39E50-9E4F-5110-4FEF-99FD38972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1423" y="2286000"/>
            <a:ext cx="3053039" cy="3931920"/>
          </a:xfrm>
        </p:spPr>
        <p:txBody>
          <a:bodyPr>
            <a:normAutofit/>
          </a:bodyPr>
          <a:lstStyle/>
          <a:p>
            <a:r>
              <a:rPr lang="en-GB" sz="1600" noProof="0" dirty="0"/>
              <a:t>Recorded the vide</a:t>
            </a:r>
          </a:p>
          <a:p>
            <a:r>
              <a:rPr lang="en-GB" sz="1600" noProof="0" dirty="0"/>
              <a:t>Used the open</a:t>
            </a:r>
            <a:r>
              <a:rPr lang="hr-HR" sz="1600" noProof="0" dirty="0"/>
              <a:t>P</a:t>
            </a:r>
            <a:r>
              <a:rPr lang="en-GB" sz="1600" noProof="0" dirty="0" err="1"/>
              <a:t>ose</a:t>
            </a:r>
            <a:r>
              <a:rPr lang="en-GB" sz="1600" noProof="0" dirty="0"/>
              <a:t> to extract </a:t>
            </a:r>
            <a:r>
              <a:rPr lang="en-GB" sz="1600" noProof="0" dirty="0" err="1"/>
              <a:t>keypoints</a:t>
            </a:r>
            <a:endParaRPr lang="en-GB" sz="1600" noProof="0" dirty="0"/>
          </a:p>
          <a:p>
            <a:r>
              <a:rPr lang="en-GB" sz="1600" noProof="0" dirty="0"/>
              <a:t>Converted </a:t>
            </a:r>
            <a:r>
              <a:rPr lang="hr-HR" sz="1600" noProof="0" dirty="0"/>
              <a:t>JSON</a:t>
            </a:r>
            <a:r>
              <a:rPr lang="en-GB" sz="1600" noProof="0" dirty="0"/>
              <a:t> file</a:t>
            </a:r>
          </a:p>
          <a:p>
            <a:r>
              <a:rPr lang="en-GB" sz="1600" noProof="0" dirty="0"/>
              <a:t>Made blender script</a:t>
            </a:r>
          </a:p>
          <a:p>
            <a:r>
              <a:rPr lang="en-GB" sz="1600" noProof="0" dirty="0"/>
              <a:t>2D animation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CC1026F7-DECB-49B4-A565-518BBA44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22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57500303-A207-4812-BEB9-51E132FEB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056" name="Freeform 6">
              <a:extLst>
                <a:ext uri="{FF2B5EF4-FFF2-40B4-BE49-F238E27FC236}">
                  <a16:creationId xmlns:a16="http://schemas.microsoft.com/office/drawing/2014/main" id="{10118C91-C025-4776-BE95-E9926378E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57" name="Freeform 6">
              <a:extLst>
                <a:ext uri="{FF2B5EF4-FFF2-40B4-BE49-F238E27FC236}">
                  <a16:creationId xmlns:a16="http://schemas.microsoft.com/office/drawing/2014/main" id="{339174D0-30E8-4BBF-BF81-5DDAC33C0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7BB74091-09FE-44AF-8325-7FE6E175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AD8C56A-D5F5-4F7F-0C00-0766021C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858" y="4736961"/>
            <a:ext cx="10720685" cy="9367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GB" sz="4800" cap="all" noProof="0" dirty="0"/>
              <a:t>Comparison with other projects</a:t>
            </a:r>
          </a:p>
        </p:txBody>
      </p:sp>
      <p:pic>
        <p:nvPicPr>
          <p:cNvPr id="6" name="Slika 5" descr="Slika na kojoj se prikazuje obuća, odijevanje, stojeći, osoba&#10;&#10;Sadržaj generiran uz AI možda nije točan.">
            <a:extLst>
              <a:ext uri="{FF2B5EF4-FFF2-40B4-BE49-F238E27FC236}">
                <a16:creationId xmlns:a16="http://schemas.microsoft.com/office/drawing/2014/main" id="{A98275BF-586B-B716-13FB-C60570690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017155"/>
            <a:ext cx="5130799" cy="2796285"/>
          </a:xfrm>
          <a:prstGeom prst="rect">
            <a:avLst/>
          </a:prstGeom>
        </p:spPr>
      </p:pic>
      <p:pic>
        <p:nvPicPr>
          <p:cNvPr id="2050" name="Picture 2" descr="GitHub - Vishwesh4/Everybody-dance-now: Implementation of paper everybody  dance now for Deep learning course project">
            <a:extLst>
              <a:ext uri="{FF2B5EF4-FFF2-40B4-BE49-F238E27FC236}">
                <a16:creationId xmlns:a16="http://schemas.microsoft.com/office/drawing/2014/main" id="{D20AD3BC-4D3F-3AE3-ABBD-30458EC151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7733" y="1258814"/>
            <a:ext cx="5130799" cy="231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0F30CCEB-94C4-4F72-BA5A-9CEA85302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434936" y="4446551"/>
            <a:ext cx="1957171" cy="1103687"/>
          </a:xfrm>
          <a:custGeom>
            <a:avLst/>
            <a:gdLst>
              <a:gd name="connsiteX0" fmla="*/ 2017702 w 2017702"/>
              <a:gd name="connsiteY0" fmla="*/ 1137821 h 1137821"/>
              <a:gd name="connsiteX1" fmla="*/ 404 w 2017702"/>
              <a:gd name="connsiteY1" fmla="*/ 1137821 h 1137821"/>
              <a:gd name="connsiteX2" fmla="*/ 0 w 2017702"/>
              <a:gd name="connsiteY2" fmla="*/ 900216 h 1137821"/>
              <a:gd name="connsiteX3" fmla="*/ 1767759 w 2017702"/>
              <a:gd name="connsiteY3" fmla="*/ 901031 h 1137821"/>
              <a:gd name="connsiteX4" fmla="*/ 1767759 w 2017702"/>
              <a:gd name="connsiteY4" fmla="*/ 0 h 1137821"/>
              <a:gd name="connsiteX5" fmla="*/ 2017702 w 2017702"/>
              <a:gd name="connsiteY5" fmla="*/ 0 h 113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7702" h="1137821">
                <a:moveTo>
                  <a:pt x="2017702" y="1137821"/>
                </a:moveTo>
                <a:lnTo>
                  <a:pt x="404" y="1137821"/>
                </a:lnTo>
                <a:cubicBezTo>
                  <a:pt x="-404" y="1055814"/>
                  <a:pt x="807" y="982224"/>
                  <a:pt x="0" y="900216"/>
                </a:cubicBezTo>
                <a:lnTo>
                  <a:pt x="1767759" y="901031"/>
                </a:lnTo>
                <a:lnTo>
                  <a:pt x="1767759" y="0"/>
                </a:lnTo>
                <a:lnTo>
                  <a:pt x="2017702" y="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0DE1A94F-CC8B-4954-97A7-ADD4F300D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796837" y="5311230"/>
            <a:ext cx="2042265" cy="1213486"/>
          </a:xfrm>
          <a:custGeom>
            <a:avLst/>
            <a:gdLst>
              <a:gd name="connsiteX0" fmla="*/ 1844618 w 2105428"/>
              <a:gd name="connsiteY0" fmla="*/ 0 h 1251016"/>
              <a:gd name="connsiteX1" fmla="*/ 2105428 w 2105428"/>
              <a:gd name="connsiteY1" fmla="*/ 0 h 1251016"/>
              <a:gd name="connsiteX2" fmla="*/ 2105428 w 2105428"/>
              <a:gd name="connsiteY2" fmla="*/ 1251016 h 1251016"/>
              <a:gd name="connsiteX3" fmla="*/ 421 w 2105428"/>
              <a:gd name="connsiteY3" fmla="*/ 1251016 h 1251016"/>
              <a:gd name="connsiteX4" fmla="*/ 0 w 2105428"/>
              <a:gd name="connsiteY4" fmla="*/ 1003081 h 1251016"/>
              <a:gd name="connsiteX5" fmla="*/ 1844618 w 2105428"/>
              <a:gd name="connsiteY5" fmla="*/ 1003931 h 125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5428" h="1251016">
                <a:moveTo>
                  <a:pt x="1844618" y="0"/>
                </a:moveTo>
                <a:lnTo>
                  <a:pt x="2105428" y="0"/>
                </a:lnTo>
                <a:lnTo>
                  <a:pt x="2105428" y="1251016"/>
                </a:lnTo>
                <a:lnTo>
                  <a:pt x="421" y="1251016"/>
                </a:lnTo>
                <a:cubicBezTo>
                  <a:pt x="-421" y="1165443"/>
                  <a:pt x="842" y="1088654"/>
                  <a:pt x="0" y="1003081"/>
                </a:cubicBezTo>
                <a:lnTo>
                  <a:pt x="1844618" y="1003931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76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4B1A364-B13E-807D-A772-210C6244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/>
              <a:t>Full result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pic>
        <p:nvPicPr>
          <p:cNvPr id="4" name="1">
            <a:hlinkClick r:id="" action="ppaction://media"/>
            <a:extLst>
              <a:ext uri="{FF2B5EF4-FFF2-40B4-BE49-F238E27FC236}">
                <a16:creationId xmlns:a16="http://schemas.microsoft.com/office/drawing/2014/main" id="{44E89A69-4577-2E95-C0B1-26F34EC1226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0879" y="1340841"/>
            <a:ext cx="4375510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9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6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3AF50B6-3375-A5EC-9669-D7ABA8C6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/>
              <a:t>Result 2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pic>
        <p:nvPicPr>
          <p:cNvPr id="4" name="2">
            <a:hlinkClick r:id="" action="ppaction://media"/>
            <a:extLst>
              <a:ext uri="{FF2B5EF4-FFF2-40B4-BE49-F238E27FC236}">
                <a16:creationId xmlns:a16="http://schemas.microsoft.com/office/drawing/2014/main" id="{557251E9-85CE-F0EC-11D9-F9A80B5755D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0879" y="1340841"/>
            <a:ext cx="4375510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8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3286A46-D61B-D650-BF8E-8BBF581B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18F408A4-6F94-8880-A4CD-359E5D419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54186" y="4436462"/>
            <a:ext cx="3355942" cy="179465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30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pic>
        <p:nvPicPr>
          <p:cNvPr id="7" name="Graphic 6" descr="Prihvaćam">
            <a:extLst>
              <a:ext uri="{FF2B5EF4-FFF2-40B4-BE49-F238E27FC236}">
                <a16:creationId xmlns:a16="http://schemas.microsoft.com/office/drawing/2014/main" id="{CFB841AC-73B9-542C-7F87-6E32C6BA8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0879" y="1340841"/>
            <a:ext cx="4375510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81687"/>
      </p:ext>
    </p:extLst>
  </p:cSld>
  <p:clrMapOvr>
    <a:masterClrMapping/>
  </p:clrMapOvr>
</p:sld>
</file>

<file path=ppt/theme/theme1.xml><?xml version="1.0" encoding="utf-8"?>
<a:theme xmlns:a="http://schemas.openxmlformats.org/drawingml/2006/main" name="Žetva">
  <a:themeElements>
    <a:clrScheme name="Žetva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Žetva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Žetv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Žetva</Template>
  <TotalTime>40</TotalTime>
  <Words>471</Words>
  <Application>Microsoft Office PowerPoint</Application>
  <PresentationFormat>Široki zaslon</PresentationFormat>
  <Paragraphs>39</Paragraphs>
  <Slides>9</Slides>
  <Notes>4</Notes>
  <HiddenSlides>0</HiddenSlides>
  <MMClips>2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9</vt:i4>
      </vt:variant>
    </vt:vector>
  </HeadingPairs>
  <TitlesOfParts>
    <vt:vector size="13" baseType="lpstr">
      <vt:lpstr>Aptos</vt:lpstr>
      <vt:lpstr>Arial</vt:lpstr>
      <vt:lpstr>Franklin Gothic Book</vt:lpstr>
      <vt:lpstr>Žetva</vt:lpstr>
      <vt:lpstr>Animation of virtual characters using the OpenPose neural network</vt:lpstr>
      <vt:lpstr>INTRODUCTION</vt:lpstr>
      <vt:lpstr>OpenPose</vt:lpstr>
      <vt:lpstr>Blender</vt:lpstr>
      <vt:lpstr>What we did</vt:lpstr>
      <vt:lpstr>Comparison with other projects</vt:lpstr>
      <vt:lpstr>Full result</vt:lpstr>
      <vt:lpstr>Result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Ljubomir Jerončić</dc:creator>
  <cp:lastModifiedBy>Ljubomir Jerončić</cp:lastModifiedBy>
  <cp:revision>2</cp:revision>
  <dcterms:created xsi:type="dcterms:W3CDTF">2026-01-18T17:14:18Z</dcterms:created>
  <dcterms:modified xsi:type="dcterms:W3CDTF">2026-01-18T17:54:49Z</dcterms:modified>
</cp:coreProperties>
</file>